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lata" panose="020B0604020202020204" charset="0"/>
      <p:regular r:id="rId9"/>
    </p:embeddedFont>
    <p:embeddedFont>
      <p:font typeface="Glacial Indifference" panose="020B0604020202020204" charset="0"/>
      <p:regular r:id="rId10"/>
    </p:embeddedFont>
    <p:embeddedFont>
      <p:font typeface="Glacial Indifference Bold" panose="020B0604020202020204" charset="0"/>
      <p:regular r:id="rId11"/>
    </p:embeddedFont>
    <p:embeddedFont>
      <p:font typeface="Gochi Hand" panose="020B0604020202020204" charset="0"/>
      <p:regular r:id="rId12"/>
    </p:embeddedFont>
    <p:embeddedFont>
      <p:font typeface="Lilita One" panose="020B0604020202020204" charset="0"/>
      <p:regular r:id="rId13"/>
    </p:embeddedFont>
    <p:embeddedFont>
      <p:font typeface="Mango AC" panose="020B0604020202020204" charset="0"/>
      <p:regular r:id="rId14"/>
    </p:embeddedFont>
    <p:embeddedFont>
      <p:font typeface="Proxima Nova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budgetbuddy-group3.up.railway.app" TargetMode="External"/><Relationship Id="rId4" Type="http://schemas.openxmlformats.org/officeDocument/2006/relationships/hyperlink" Target="https://budget-buddy-llm-app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3294" y="-89718"/>
            <a:ext cx="7383748" cy="1344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18"/>
              </a:lnSpc>
              <a:spcBef>
                <a:spcPct val="0"/>
              </a:spcBef>
            </a:pPr>
            <a:r>
              <a:rPr lang="en-US" sz="7084">
                <a:solidFill>
                  <a:srgbClr val="2F2325"/>
                </a:solidFill>
                <a:latin typeface="Mango AC"/>
                <a:ea typeface="Mango AC"/>
                <a:cs typeface="Mango AC"/>
                <a:sym typeface="Mango AC"/>
              </a:rPr>
              <a:t>Budget Buddy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5632" y="1433022"/>
            <a:ext cx="9144000" cy="275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88"/>
              </a:lnSpc>
            </a:pPr>
            <a:r>
              <a:rPr lang="en-US" sz="2900" u="none" strike="noStrike" spc="226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Problem</a:t>
            </a:r>
          </a:p>
          <a:p>
            <a:pPr marL="0" lvl="0" indent="0" algn="l">
              <a:lnSpc>
                <a:spcPts val="2755"/>
              </a:lnSpc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Personal finance is fragmented and hard to manage</a:t>
            </a:r>
          </a:p>
          <a:p>
            <a:pPr marL="0" lvl="0" indent="0" algn="l">
              <a:lnSpc>
                <a:spcPts val="2755"/>
              </a:lnSpc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Users struggle with tracking spending, understanding statements, and planning savings/debt</a:t>
            </a:r>
          </a:p>
          <a:p>
            <a:pPr marL="0" lvl="0" indent="0" algn="l">
              <a:lnSpc>
                <a:spcPts val="2755"/>
              </a:lnSpc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Existing tools are static and lack personalized guidance</a:t>
            </a:r>
          </a:p>
          <a:p>
            <a:pPr marL="0" lvl="0" indent="0" algn="l">
              <a:lnSpc>
                <a:spcPts val="2320"/>
              </a:lnSpc>
            </a:pPr>
            <a:endParaRPr lang="en-US" sz="29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30796" y="1452072"/>
            <a:ext cx="8557204" cy="309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5"/>
              </a:lnSpc>
            </a:pPr>
            <a:r>
              <a:rPr lang="en-US" sz="2900" spc="591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2900" u="none" strike="noStrike" spc="591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olution</a:t>
            </a:r>
          </a:p>
          <a:p>
            <a:pPr marL="0" lvl="0" indent="0" algn="l">
              <a:lnSpc>
                <a:spcPts val="2755"/>
              </a:lnSpc>
            </a:pPr>
            <a:r>
              <a:rPr lang="en-US" sz="2900" u="none" strike="noStrike">
                <a:solidFill>
                  <a:srgbClr val="593232"/>
                </a:solidFill>
                <a:latin typeface="Alata"/>
                <a:ea typeface="Alata"/>
                <a:cs typeface="Alata"/>
                <a:sym typeface="Alata"/>
              </a:rPr>
              <a:t>BudgetBuddy </a:t>
            </a: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is an AI-powered personal finance assistant that:</a:t>
            </a:r>
          </a:p>
          <a:p>
            <a:pPr marL="626111" lvl="1" indent="-313055" algn="l">
              <a:lnSpc>
                <a:spcPts val="2755"/>
              </a:lnSpc>
              <a:buFont typeface="Arial"/>
              <a:buChar char="•"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Ingests user financial data</a:t>
            </a:r>
          </a:p>
          <a:p>
            <a:pPr marL="626111" lvl="1" indent="-313055" algn="l">
              <a:lnSpc>
                <a:spcPts val="2755"/>
              </a:lnSpc>
              <a:buFont typeface="Arial"/>
              <a:buChar char="•"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Enriches it with real-world financial signals</a:t>
            </a:r>
          </a:p>
          <a:p>
            <a:pPr marL="626111" lvl="1" indent="-313055" algn="l">
              <a:lnSpc>
                <a:spcPts val="2755"/>
              </a:lnSpc>
              <a:buFont typeface="Arial"/>
              <a:buChar char="•"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Uses LLMs to provide personalized, conversational advice</a:t>
            </a:r>
          </a:p>
          <a:p>
            <a:pPr marL="0" lvl="0" indent="0" algn="l">
              <a:lnSpc>
                <a:spcPts val="2755"/>
              </a:lnSpc>
            </a:pPr>
            <a:endParaRPr lang="en-US" sz="29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28700" y="4959428"/>
            <a:ext cx="7260534" cy="4298872"/>
            <a:chOff x="0" y="0"/>
            <a:chExt cx="9680712" cy="5731829"/>
          </a:xfrm>
        </p:grpSpPr>
        <p:grpSp>
          <p:nvGrpSpPr>
            <p:cNvPr id="7" name="Group 7"/>
            <p:cNvGrpSpPr/>
            <p:nvPr/>
          </p:nvGrpSpPr>
          <p:grpSpPr>
            <a:xfrm>
              <a:off x="1062911" y="0"/>
              <a:ext cx="7083123" cy="1090899"/>
              <a:chOff x="0" y="0"/>
              <a:chExt cx="3352408" cy="5163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352408" cy="516317"/>
              </a:xfrm>
              <a:custGeom>
                <a:avLst/>
                <a:gdLst/>
                <a:ahLst/>
                <a:cxnLst/>
                <a:rect l="l" t="t" r="r" b="b"/>
                <a:pathLst>
                  <a:path w="3352408" h="516317">
                    <a:moveTo>
                      <a:pt x="83261" y="0"/>
                    </a:moveTo>
                    <a:lnTo>
                      <a:pt x="3269146" y="0"/>
                    </a:lnTo>
                    <a:cubicBezTo>
                      <a:pt x="3315130" y="0"/>
                      <a:pt x="3352408" y="37277"/>
                      <a:pt x="3352408" y="83261"/>
                    </a:cubicBezTo>
                    <a:lnTo>
                      <a:pt x="3352408" y="433056"/>
                    </a:lnTo>
                    <a:cubicBezTo>
                      <a:pt x="3352408" y="479040"/>
                      <a:pt x="3315130" y="516317"/>
                      <a:pt x="3269146" y="516317"/>
                    </a:cubicBezTo>
                    <a:lnTo>
                      <a:pt x="83261" y="516317"/>
                    </a:lnTo>
                    <a:cubicBezTo>
                      <a:pt x="37277" y="516317"/>
                      <a:pt x="0" y="479040"/>
                      <a:pt x="0" y="433056"/>
                    </a:cubicBezTo>
                    <a:lnTo>
                      <a:pt x="0" y="83261"/>
                    </a:lnTo>
                    <a:cubicBezTo>
                      <a:pt x="0" y="37277"/>
                      <a:pt x="37277" y="0"/>
                      <a:pt x="83261" y="0"/>
                    </a:cubicBezTo>
                    <a:close/>
                  </a:path>
                </a:pathLst>
              </a:custGeom>
              <a:solidFill>
                <a:srgbClr val="DF926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3352408" cy="58299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60"/>
                  </a:lnSpc>
                </a:pPr>
                <a:r>
                  <a:rPr lang="en-US" sz="2900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🧰 Tech Stack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1465600"/>
              <a:ext cx="9680712" cy="4266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2"/>
                </a:lnSpc>
              </a:pPr>
              <a:r>
                <a:rPr lang="en-US" sz="2601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📱 F</a:t>
              </a: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rontend: React, Typescript</a:t>
              </a:r>
            </a:p>
            <a:p>
              <a:pPr algn="l">
                <a:lnSpc>
                  <a:spcPts val="3642"/>
                </a:lnSpc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⚙️ Backend: Python, FastAPI</a:t>
              </a:r>
            </a:p>
            <a:p>
              <a:pPr algn="l">
                <a:lnSpc>
                  <a:spcPts val="3642"/>
                </a:lnSpc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🧠 LLMs: Groq, Gemini, RapidAPI, </a:t>
              </a:r>
            </a:p>
            <a:p>
              <a:pPr algn="l">
                <a:lnSpc>
                  <a:spcPts val="3642"/>
                </a:lnSpc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🗄️ Database: Supabase, PostgreSQL</a:t>
              </a:r>
            </a:p>
            <a:p>
              <a:pPr algn="l">
                <a:lnSpc>
                  <a:spcPts val="3642"/>
                </a:lnSpc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🔍 Vector DB: pgvector (RAG)</a:t>
              </a:r>
            </a:p>
            <a:p>
              <a:pPr algn="l">
                <a:lnSpc>
                  <a:spcPts val="3642"/>
                </a:lnSpc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🌐 APIs: OpenAI API</a:t>
              </a:r>
            </a:p>
            <a:p>
              <a:pPr algn="l">
                <a:lnSpc>
                  <a:spcPts val="3642"/>
                </a:lnSpc>
              </a:pPr>
              <a:endParaRPr lang="en-US" sz="2601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30796" y="4959428"/>
            <a:ext cx="8203486" cy="4616763"/>
            <a:chOff x="0" y="0"/>
            <a:chExt cx="10937982" cy="6155684"/>
          </a:xfrm>
        </p:grpSpPr>
        <p:grpSp>
          <p:nvGrpSpPr>
            <p:cNvPr id="12" name="Group 12"/>
            <p:cNvGrpSpPr/>
            <p:nvPr/>
          </p:nvGrpSpPr>
          <p:grpSpPr>
            <a:xfrm>
              <a:off x="1525587" y="0"/>
              <a:ext cx="5871184" cy="1020637"/>
              <a:chOff x="0" y="0"/>
              <a:chExt cx="2177195" cy="3784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77195" cy="378480"/>
              </a:xfrm>
              <a:custGeom>
                <a:avLst/>
                <a:gdLst/>
                <a:ahLst/>
                <a:cxnLst/>
                <a:rect l="l" t="t" r="r" b="b"/>
                <a:pathLst>
                  <a:path w="2177195" h="378480">
                    <a:moveTo>
                      <a:pt x="128205" y="0"/>
                    </a:moveTo>
                    <a:lnTo>
                      <a:pt x="2048991" y="0"/>
                    </a:lnTo>
                    <a:cubicBezTo>
                      <a:pt x="2119796" y="0"/>
                      <a:pt x="2177195" y="57399"/>
                      <a:pt x="2177195" y="128205"/>
                    </a:cubicBezTo>
                    <a:lnTo>
                      <a:pt x="2177195" y="250276"/>
                    </a:lnTo>
                    <a:cubicBezTo>
                      <a:pt x="2177195" y="321081"/>
                      <a:pt x="2119796" y="378480"/>
                      <a:pt x="2048991" y="378480"/>
                    </a:cubicBezTo>
                    <a:lnTo>
                      <a:pt x="128205" y="378480"/>
                    </a:lnTo>
                    <a:cubicBezTo>
                      <a:pt x="94203" y="378480"/>
                      <a:pt x="61593" y="364973"/>
                      <a:pt x="37550" y="340930"/>
                    </a:cubicBezTo>
                    <a:cubicBezTo>
                      <a:pt x="13507" y="316887"/>
                      <a:pt x="0" y="284278"/>
                      <a:pt x="0" y="250276"/>
                    </a:cubicBezTo>
                    <a:lnTo>
                      <a:pt x="0" y="128205"/>
                    </a:lnTo>
                    <a:cubicBezTo>
                      <a:pt x="0" y="57399"/>
                      <a:pt x="57399" y="0"/>
                      <a:pt x="128205" y="0"/>
                    </a:cubicBezTo>
                    <a:close/>
                  </a:path>
                </a:pathLst>
              </a:custGeom>
              <a:solidFill>
                <a:srgbClr val="DF926C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177195" cy="445155"/>
              </a:xfrm>
              <a:prstGeom prst="rect">
                <a:avLst/>
              </a:prstGeom>
            </p:spPr>
            <p:txBody>
              <a:bodyPr lIns="40880" tIns="40880" rIns="40880" bIns="40880" rtlCol="0" anchor="ctr"/>
              <a:lstStyle/>
              <a:p>
                <a:pPr marL="0" lvl="0" indent="0" algn="ctr">
                  <a:lnSpc>
                    <a:spcPts val="4059"/>
                  </a:lnSpc>
                  <a:spcBef>
                    <a:spcPct val="0"/>
                  </a:spcBef>
                </a:pPr>
                <a:r>
                  <a:rPr lang="en-US" sz="2899" u="none" strike="noStrike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Success Metrics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1319312"/>
              <a:ext cx="10937982" cy="483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Accuracy:</a:t>
              </a: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 Correct parsing and categorization of statements (target: &gt;75%).</a:t>
              </a:r>
            </a:p>
            <a:p>
              <a:pPr marL="0" lvl="1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Response Quality: User ratings of LLM-generated advice (target: &gt;3/5).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System Reliability: Uptime and error rates (target: &gt;60% uptime).</a:t>
              </a:r>
            </a:p>
            <a:p>
              <a:pPr marL="0" lvl="1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Deployment Readiness: Successful deployment</a:t>
              </a:r>
            </a:p>
            <a:p>
              <a:pPr marL="0" lvl="1" indent="0" algn="l">
                <a:lnSpc>
                  <a:spcPts val="3640"/>
                </a:lnSpc>
                <a:spcBef>
                  <a:spcPct val="0"/>
                </a:spcBef>
              </a:pPr>
              <a:endParaRPr lang="en-US" sz="26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11064" y="191120"/>
            <a:ext cx="4676759" cy="1063211"/>
            <a:chOff x="0" y="0"/>
            <a:chExt cx="2082748" cy="4734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2748" cy="473491"/>
            </a:xfrm>
            <a:custGeom>
              <a:avLst/>
              <a:gdLst/>
              <a:ahLst/>
              <a:cxnLst/>
              <a:rect l="l" t="t" r="r" b="b"/>
              <a:pathLst>
                <a:path w="2082748" h="473491">
                  <a:moveTo>
                    <a:pt x="132432" y="0"/>
                  </a:moveTo>
                  <a:lnTo>
                    <a:pt x="1950316" y="0"/>
                  </a:lnTo>
                  <a:cubicBezTo>
                    <a:pt x="2023456" y="0"/>
                    <a:pt x="2082748" y="59292"/>
                    <a:pt x="2082748" y="132432"/>
                  </a:cubicBezTo>
                  <a:lnTo>
                    <a:pt x="2082748" y="341058"/>
                  </a:lnTo>
                  <a:cubicBezTo>
                    <a:pt x="2082748" y="414199"/>
                    <a:pt x="2023456" y="473491"/>
                    <a:pt x="1950316" y="473491"/>
                  </a:cubicBezTo>
                  <a:lnTo>
                    <a:pt x="132432" y="473491"/>
                  </a:lnTo>
                  <a:cubicBezTo>
                    <a:pt x="59292" y="473491"/>
                    <a:pt x="0" y="414199"/>
                    <a:pt x="0" y="341058"/>
                  </a:cubicBezTo>
                  <a:lnTo>
                    <a:pt x="0" y="132432"/>
                  </a:lnTo>
                  <a:cubicBezTo>
                    <a:pt x="0" y="59292"/>
                    <a:pt x="59292" y="0"/>
                    <a:pt x="132432" y="0"/>
                  </a:cubicBezTo>
                  <a:close/>
                </a:path>
              </a:pathLst>
            </a:custGeom>
            <a:solidFill>
              <a:srgbClr val="FFDBA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082748" cy="540166"/>
            </a:xfrm>
            <a:prstGeom prst="rect">
              <a:avLst/>
            </a:prstGeom>
          </p:spPr>
          <p:txBody>
            <a:bodyPr lIns="40880" tIns="40880" rIns="40880" bIns="40880" rtlCol="0" anchor="ctr"/>
            <a:lstStyle/>
            <a:p>
              <a:pPr algn="ctr">
                <a:lnSpc>
                  <a:spcPts val="4017"/>
                </a:lnSpc>
              </a:pPr>
              <a:r>
                <a:rPr lang="en-US" sz="2869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Alyssa Sharma</a:t>
              </a:r>
            </a:p>
            <a:p>
              <a:pPr algn="ctr">
                <a:lnSpc>
                  <a:spcPts val="4017"/>
                </a:lnSpc>
              </a:pPr>
              <a:r>
                <a:rPr lang="en-US" sz="2869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Leela Josna Kona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6340220" y="8847839"/>
            <a:ext cx="3079412" cy="3275970"/>
          </a:xfrm>
          <a:custGeom>
            <a:avLst/>
            <a:gdLst/>
            <a:ahLst/>
            <a:cxnLst/>
            <a:rect l="l" t="t" r="r" b="b"/>
            <a:pathLst>
              <a:path w="3079412" h="3275970">
                <a:moveTo>
                  <a:pt x="0" y="0"/>
                </a:moveTo>
                <a:lnTo>
                  <a:pt x="3079412" y="0"/>
                </a:lnTo>
                <a:lnTo>
                  <a:pt x="3079412" y="3275971"/>
                </a:lnTo>
                <a:lnTo>
                  <a:pt x="0" y="3275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468974" y="140882"/>
            <a:ext cx="5312342" cy="818174"/>
            <a:chOff x="0" y="0"/>
            <a:chExt cx="3352408" cy="5163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52408" cy="516317"/>
            </a:xfrm>
            <a:custGeom>
              <a:avLst/>
              <a:gdLst/>
              <a:ahLst/>
              <a:cxnLst/>
              <a:rect l="l" t="t" r="r" b="b"/>
              <a:pathLst>
                <a:path w="3352408" h="516317">
                  <a:moveTo>
                    <a:pt x="116588" y="0"/>
                  </a:moveTo>
                  <a:lnTo>
                    <a:pt x="3235820" y="0"/>
                  </a:lnTo>
                  <a:cubicBezTo>
                    <a:pt x="3300210" y="0"/>
                    <a:pt x="3352408" y="52198"/>
                    <a:pt x="3352408" y="116588"/>
                  </a:cubicBezTo>
                  <a:lnTo>
                    <a:pt x="3352408" y="399729"/>
                  </a:lnTo>
                  <a:cubicBezTo>
                    <a:pt x="3352408" y="464119"/>
                    <a:pt x="3300210" y="516317"/>
                    <a:pt x="3235820" y="516317"/>
                  </a:cubicBezTo>
                  <a:lnTo>
                    <a:pt x="116588" y="516317"/>
                  </a:lnTo>
                  <a:cubicBezTo>
                    <a:pt x="85667" y="516317"/>
                    <a:pt x="56012" y="504034"/>
                    <a:pt x="34148" y="482169"/>
                  </a:cubicBezTo>
                  <a:cubicBezTo>
                    <a:pt x="12283" y="460305"/>
                    <a:pt x="0" y="430650"/>
                    <a:pt x="0" y="399729"/>
                  </a:cubicBezTo>
                  <a:lnTo>
                    <a:pt x="0" y="116588"/>
                  </a:lnTo>
                  <a:cubicBezTo>
                    <a:pt x="0" y="85667"/>
                    <a:pt x="12283" y="56012"/>
                    <a:pt x="34148" y="34148"/>
                  </a:cubicBezTo>
                  <a:cubicBezTo>
                    <a:pt x="56012" y="12283"/>
                    <a:pt x="85667" y="0"/>
                    <a:pt x="116588" y="0"/>
                  </a:cubicBez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3352408" cy="582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Expense Distribution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781316" y="8795710"/>
            <a:ext cx="2506684" cy="2666685"/>
          </a:xfrm>
          <a:custGeom>
            <a:avLst/>
            <a:gdLst/>
            <a:ahLst/>
            <a:cxnLst/>
            <a:rect l="l" t="t" r="r" b="b"/>
            <a:pathLst>
              <a:path w="2506684" h="2666685">
                <a:moveTo>
                  <a:pt x="0" y="0"/>
                </a:moveTo>
                <a:lnTo>
                  <a:pt x="2506684" y="0"/>
                </a:lnTo>
                <a:lnTo>
                  <a:pt x="2506684" y="2666685"/>
                </a:lnTo>
                <a:lnTo>
                  <a:pt x="0" y="266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16370" y="1254331"/>
            <a:ext cx="9571630" cy="4917425"/>
          </a:xfrm>
          <a:custGeom>
            <a:avLst/>
            <a:gdLst/>
            <a:ahLst/>
            <a:cxnLst/>
            <a:rect l="l" t="t" r="r" b="b"/>
            <a:pathLst>
              <a:path w="9571630" h="4917425">
                <a:moveTo>
                  <a:pt x="0" y="0"/>
                </a:moveTo>
                <a:lnTo>
                  <a:pt x="9571630" y="0"/>
                </a:lnTo>
                <a:lnTo>
                  <a:pt x="9571630" y="4917425"/>
                </a:lnTo>
                <a:lnTo>
                  <a:pt x="0" y="4917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627799" y="6388770"/>
            <a:ext cx="8251583" cy="907674"/>
          </a:xfrm>
          <a:custGeom>
            <a:avLst/>
            <a:gdLst/>
            <a:ahLst/>
            <a:cxnLst/>
            <a:rect l="l" t="t" r="r" b="b"/>
            <a:pathLst>
              <a:path w="8251583" h="907674">
                <a:moveTo>
                  <a:pt x="0" y="0"/>
                </a:moveTo>
                <a:lnTo>
                  <a:pt x="8251583" y="0"/>
                </a:lnTo>
                <a:lnTo>
                  <a:pt x="8251583" y="907674"/>
                </a:lnTo>
                <a:lnTo>
                  <a:pt x="0" y="907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3294" y="-89718"/>
            <a:ext cx="9652641" cy="1344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18"/>
              </a:lnSpc>
              <a:spcBef>
                <a:spcPct val="0"/>
              </a:spcBef>
            </a:pPr>
            <a:r>
              <a:rPr lang="en-US" sz="7084">
                <a:solidFill>
                  <a:srgbClr val="2F2325"/>
                </a:solidFill>
                <a:latin typeface="Mango AC"/>
                <a:ea typeface="Mango AC"/>
                <a:cs typeface="Mango AC"/>
                <a:sym typeface="Mango AC"/>
              </a:rPr>
              <a:t>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3294" y="1547621"/>
            <a:ext cx="8262898" cy="2735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76" lvl="1" indent="-302288" algn="l">
              <a:lnSpc>
                <a:spcPts val="4396"/>
              </a:lnSpc>
              <a:buFont typeface="Arial"/>
              <a:buChar char="•"/>
            </a:pPr>
            <a:r>
              <a:rPr lang="en-US" sz="28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User-generated expenses, budgets, profiles</a:t>
            </a:r>
          </a:p>
          <a:p>
            <a:pPr marL="604576" lvl="1" indent="-302288" algn="l">
              <a:lnSpc>
                <a:spcPts val="4396"/>
              </a:lnSpc>
              <a:buFont typeface="Arial"/>
              <a:buChar char="•"/>
            </a:pPr>
            <a:r>
              <a:rPr lang="en-US" sz="28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Receipt images: merchant, total, items</a:t>
            </a:r>
          </a:p>
          <a:p>
            <a:pPr marL="604576" lvl="1" indent="-302288" algn="l">
              <a:lnSpc>
                <a:spcPts val="4396"/>
              </a:lnSpc>
              <a:buFont typeface="Arial"/>
              <a:buChar char="•"/>
            </a:pPr>
            <a:r>
              <a:rPr lang="en-US" sz="28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External city/cost-of-living signals</a:t>
            </a:r>
          </a:p>
          <a:p>
            <a:pPr marL="604576" lvl="1" indent="-302288" algn="l">
              <a:lnSpc>
                <a:spcPts val="4396"/>
              </a:lnSpc>
              <a:buFont typeface="Arial"/>
              <a:buChar char="•"/>
            </a:pPr>
            <a:r>
              <a:rPr lang="en-US" sz="28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Cafe chat history and memory turns</a:t>
            </a:r>
          </a:p>
          <a:p>
            <a:pPr marL="0" lvl="0" indent="0" algn="l">
              <a:lnSpc>
                <a:spcPts val="4396"/>
              </a:lnSpc>
            </a:pPr>
            <a:endParaRPr lang="en-US" sz="28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26249" y="7513458"/>
            <a:ext cx="13075868" cy="2408431"/>
            <a:chOff x="0" y="0"/>
            <a:chExt cx="1623783" cy="2990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23783" cy="299083"/>
            </a:xfrm>
            <a:custGeom>
              <a:avLst/>
              <a:gdLst/>
              <a:ahLst/>
              <a:cxnLst/>
              <a:rect l="l" t="t" r="r" b="b"/>
              <a:pathLst>
                <a:path w="1623783" h="299083">
                  <a:moveTo>
                    <a:pt x="11564" y="0"/>
                  </a:moveTo>
                  <a:lnTo>
                    <a:pt x="1612219" y="0"/>
                  </a:lnTo>
                  <a:cubicBezTo>
                    <a:pt x="1615286" y="0"/>
                    <a:pt x="1618227" y="1218"/>
                    <a:pt x="1620396" y="3387"/>
                  </a:cubicBezTo>
                  <a:cubicBezTo>
                    <a:pt x="1622564" y="5556"/>
                    <a:pt x="1623783" y="8497"/>
                    <a:pt x="1623783" y="11564"/>
                  </a:cubicBezTo>
                  <a:lnTo>
                    <a:pt x="1623783" y="287519"/>
                  </a:lnTo>
                  <a:cubicBezTo>
                    <a:pt x="1623783" y="293906"/>
                    <a:pt x="1618605" y="299083"/>
                    <a:pt x="1612219" y="299083"/>
                  </a:cubicBezTo>
                  <a:lnTo>
                    <a:pt x="11564" y="299083"/>
                  </a:lnTo>
                  <a:cubicBezTo>
                    <a:pt x="8497" y="299083"/>
                    <a:pt x="5556" y="297865"/>
                    <a:pt x="3387" y="295696"/>
                  </a:cubicBezTo>
                  <a:cubicBezTo>
                    <a:pt x="1218" y="293527"/>
                    <a:pt x="0" y="290586"/>
                    <a:pt x="0" y="287519"/>
                  </a:cubicBezTo>
                  <a:lnTo>
                    <a:pt x="0" y="11564"/>
                  </a:lnTo>
                  <a:cubicBezTo>
                    <a:pt x="0" y="5177"/>
                    <a:pt x="5177" y="0"/>
                    <a:pt x="11564" y="0"/>
                  </a:cubicBezTo>
                  <a:close/>
                </a:path>
              </a:pathLst>
            </a:custGeom>
            <a:solidFill>
              <a:srgbClr val="FFDBA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623783" cy="394333"/>
            </a:xfrm>
            <a:prstGeom prst="rect">
              <a:avLst/>
            </a:prstGeom>
          </p:spPr>
          <p:txBody>
            <a:bodyPr lIns="114300" tIns="114300" rIns="114300" bIns="114300" rtlCol="0" anchor="ctr"/>
            <a:lstStyle/>
            <a:p>
              <a:pPr marL="474981" lvl="1" indent="-237491" algn="l">
                <a:lnSpc>
                  <a:spcPts val="37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Frontend (React) -&gt; FastAPI -&gt; LLM/Agent layer -&gt; Tool execution → Supabase → External APIs</a:t>
              </a:r>
            </a:p>
            <a:p>
              <a:pPr marL="474981" lvl="1" indent="-237491" algn="l">
                <a:lnSpc>
                  <a:spcPts val="37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Multimodal flows: text expense parsing, receipt OCR/Vision, cafe conversation</a:t>
              </a:r>
            </a:p>
            <a:p>
              <a:pPr marL="474981" lvl="1" indent="-237491" algn="l">
                <a:lnSpc>
                  <a:spcPts val="37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Planner-Executor-Reviewer orchestration for multi-step tasks</a:t>
              </a:r>
            </a:p>
            <a:p>
              <a:pPr marL="474981" lvl="1" indent="-237491" algn="l">
                <a:lnSpc>
                  <a:spcPts val="37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Multi-agent personas (Penny, Esper, Capy, Mochi)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228737" y="1707499"/>
            <a:ext cx="12334662" cy="8217968"/>
          </a:xfrm>
          <a:custGeom>
            <a:avLst/>
            <a:gdLst/>
            <a:ahLst/>
            <a:cxnLst/>
            <a:rect l="l" t="t" r="r" b="b"/>
            <a:pathLst>
              <a:path w="12334662" h="8217968">
                <a:moveTo>
                  <a:pt x="0" y="0"/>
                </a:moveTo>
                <a:lnTo>
                  <a:pt x="12334662" y="0"/>
                </a:lnTo>
                <a:lnTo>
                  <a:pt x="12334662" y="8217968"/>
                </a:lnTo>
                <a:lnTo>
                  <a:pt x="0" y="82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AEA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267723" y="242309"/>
            <a:ext cx="7788568" cy="1207451"/>
            <a:chOff x="0" y="0"/>
            <a:chExt cx="2183308" cy="338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3308" cy="338475"/>
            </a:xfrm>
            <a:custGeom>
              <a:avLst/>
              <a:gdLst/>
              <a:ahLst/>
              <a:cxnLst/>
              <a:rect l="l" t="t" r="r" b="b"/>
              <a:pathLst>
                <a:path w="2183308" h="338475">
                  <a:moveTo>
                    <a:pt x="2183308" y="0"/>
                  </a:moveTo>
                  <a:lnTo>
                    <a:pt x="0" y="0"/>
                  </a:lnTo>
                  <a:lnTo>
                    <a:pt x="101600" y="169238"/>
                  </a:lnTo>
                  <a:lnTo>
                    <a:pt x="0" y="338475"/>
                  </a:lnTo>
                  <a:lnTo>
                    <a:pt x="2183308" y="338475"/>
                  </a:lnTo>
                  <a:lnTo>
                    <a:pt x="2081708" y="169238"/>
                  </a:lnTo>
                  <a:lnTo>
                    <a:pt x="2183308" y="0"/>
                  </a:ln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900" y="-66675"/>
              <a:ext cx="2005508" cy="40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593232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High Level Architecture and Work Flow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2839" y="91281"/>
            <a:ext cx="1771722" cy="1874838"/>
          </a:xfrm>
          <a:custGeom>
            <a:avLst/>
            <a:gdLst/>
            <a:ahLst/>
            <a:cxnLst/>
            <a:rect l="l" t="t" r="r" b="b"/>
            <a:pathLst>
              <a:path w="1771722" h="1874838">
                <a:moveTo>
                  <a:pt x="0" y="0"/>
                </a:moveTo>
                <a:lnTo>
                  <a:pt x="1771722" y="0"/>
                </a:lnTo>
                <a:lnTo>
                  <a:pt x="1771722" y="1874838"/>
                </a:lnTo>
                <a:lnTo>
                  <a:pt x="0" y="187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59517" y="139198"/>
            <a:ext cx="13168966" cy="190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5961">
                <a:solidFill>
                  <a:srgbClr val="2F2325"/>
                </a:solidFill>
                <a:latin typeface="Mango AC"/>
                <a:ea typeface="Mango AC"/>
                <a:cs typeface="Mango AC"/>
                <a:sym typeface="Mango AC"/>
              </a:rPr>
              <a:t>Pet Community Cafe - Lifecycle</a:t>
            </a:r>
          </a:p>
          <a:p>
            <a:pPr marL="0" lvl="0" indent="0" algn="l">
              <a:lnSpc>
                <a:spcPts val="6014"/>
              </a:lnSpc>
              <a:spcBef>
                <a:spcPct val="0"/>
              </a:spcBef>
            </a:pPr>
            <a:endParaRPr lang="en-US" sz="5961">
              <a:solidFill>
                <a:srgbClr val="2F2325"/>
              </a:solidFill>
              <a:latin typeface="Mango AC"/>
              <a:ea typeface="Mango AC"/>
              <a:cs typeface="Mango AC"/>
              <a:sym typeface="Mango A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318382" y="9002011"/>
            <a:ext cx="1881835" cy="2001952"/>
          </a:xfrm>
          <a:custGeom>
            <a:avLst/>
            <a:gdLst/>
            <a:ahLst/>
            <a:cxnLst/>
            <a:rect l="l" t="t" r="r" b="b"/>
            <a:pathLst>
              <a:path w="1881835" h="2001952">
                <a:moveTo>
                  <a:pt x="0" y="0"/>
                </a:moveTo>
                <a:lnTo>
                  <a:pt x="1881836" y="0"/>
                </a:lnTo>
                <a:lnTo>
                  <a:pt x="1881836" y="2001953"/>
                </a:lnTo>
                <a:lnTo>
                  <a:pt x="0" y="2001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001514" y="1525104"/>
            <a:ext cx="14284972" cy="1139956"/>
            <a:chOff x="0" y="0"/>
            <a:chExt cx="7063009" cy="563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3009" cy="563636"/>
            </a:xfrm>
            <a:custGeom>
              <a:avLst/>
              <a:gdLst/>
              <a:ahLst/>
              <a:cxnLst/>
              <a:rect l="l" t="t" r="r" b="b"/>
              <a:pathLst>
                <a:path w="7063009" h="563636">
                  <a:moveTo>
                    <a:pt x="43357" y="0"/>
                  </a:moveTo>
                  <a:lnTo>
                    <a:pt x="7019652" y="0"/>
                  </a:lnTo>
                  <a:cubicBezTo>
                    <a:pt x="7043598" y="0"/>
                    <a:pt x="7063009" y="19412"/>
                    <a:pt x="7063009" y="43357"/>
                  </a:cubicBezTo>
                  <a:lnTo>
                    <a:pt x="7063009" y="520279"/>
                  </a:lnTo>
                  <a:cubicBezTo>
                    <a:pt x="7063009" y="544224"/>
                    <a:pt x="7043598" y="563636"/>
                    <a:pt x="7019652" y="563636"/>
                  </a:cubicBezTo>
                  <a:lnTo>
                    <a:pt x="43357" y="563636"/>
                  </a:lnTo>
                  <a:cubicBezTo>
                    <a:pt x="19412" y="563636"/>
                    <a:pt x="0" y="544224"/>
                    <a:pt x="0" y="520279"/>
                  </a:cubicBezTo>
                  <a:lnTo>
                    <a:pt x="0" y="43357"/>
                  </a:lnTo>
                  <a:cubicBezTo>
                    <a:pt x="0" y="19412"/>
                    <a:pt x="19412" y="0"/>
                    <a:pt x="43357" y="0"/>
                  </a:cubicBezTo>
                  <a:close/>
                </a:path>
              </a:pathLst>
            </a:custGeom>
            <a:solidFill>
              <a:srgbClr val="DF926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63009" cy="611261"/>
            </a:xfrm>
            <a:prstGeom prst="rect">
              <a:avLst/>
            </a:prstGeom>
          </p:spPr>
          <p:txBody>
            <a:bodyPr lIns="37262" tIns="37262" rIns="37262" bIns="37262" rtlCol="0" anchor="ctr"/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F2325"/>
                  </a:solidFill>
                  <a:latin typeface="Alata"/>
                  <a:ea typeface="Alata"/>
                  <a:cs typeface="Alata"/>
                  <a:sym typeface="Alata"/>
                </a:rPr>
                <a:t>Companions: Penny = optimistic • Esper = strategic • Capy = protective • Mochi = reflective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222" y="3686127"/>
            <a:ext cx="17315090" cy="1754879"/>
            <a:chOff x="0" y="-25522"/>
            <a:chExt cx="23086786" cy="233983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78615"/>
              <a:ext cx="3231296" cy="2146957"/>
              <a:chOff x="0" y="0"/>
              <a:chExt cx="638281" cy="4240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8281" cy="424090"/>
              </a:xfrm>
              <a:custGeom>
                <a:avLst/>
                <a:gdLst/>
                <a:ahLst/>
                <a:cxnLst/>
                <a:rect l="l" t="t" r="r" b="b"/>
                <a:pathLst>
                  <a:path w="638281" h="424090">
                    <a:moveTo>
                      <a:pt x="0" y="0"/>
                    </a:moveTo>
                    <a:lnTo>
                      <a:pt x="638281" y="0"/>
                    </a:lnTo>
                    <a:lnTo>
                      <a:pt x="638281" y="424090"/>
                    </a:lnTo>
                    <a:lnTo>
                      <a:pt x="0" y="424090"/>
                    </a:lnTo>
                    <a:close/>
                  </a:path>
                </a:pathLst>
              </a:custGeom>
              <a:solidFill>
                <a:srgbClr val="FFF9F1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638281" cy="4812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431801" lvl="1" indent="-215900" algn="l">
                  <a:lnSpc>
                    <a:spcPts val="2800"/>
                  </a:lnSpc>
                  <a:buAutoNum type="arabicPeriod"/>
                </a:pPr>
                <a:r>
                  <a:rPr lang="en-US" sz="20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Continue Chat</a:t>
                </a:r>
              </a:p>
              <a:p>
                <a:pPr algn="l">
                  <a:lnSpc>
                    <a:spcPts val="2800"/>
                  </a:lnSpc>
                </a:pPr>
                <a:endParaRPr lang="en-US" sz="20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User click in cafe panel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334194" y="9525"/>
              <a:ext cx="2850973" cy="2304186"/>
              <a:chOff x="0" y="0"/>
              <a:chExt cx="563155" cy="4551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63155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563155" h="455148">
                    <a:moveTo>
                      <a:pt x="0" y="0"/>
                    </a:moveTo>
                    <a:lnTo>
                      <a:pt x="563155" y="0"/>
                    </a:lnTo>
                    <a:lnTo>
                      <a:pt x="563155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63155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2.POST</a:t>
                </a:r>
              </a:p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 </a:t>
                </a: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/api/cafe/gossip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request: user_id + state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317311" y="0"/>
              <a:ext cx="2993646" cy="2304186"/>
              <a:chOff x="0" y="0"/>
              <a:chExt cx="591337" cy="45514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91338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591338" h="455148">
                    <a:moveTo>
                      <a:pt x="0" y="0"/>
                    </a:moveTo>
                    <a:lnTo>
                      <a:pt x="591338" y="0"/>
                    </a:lnTo>
                    <a:lnTo>
                      <a:pt x="591338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D9F2E8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91337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388620" lvl="1" indent="-194310" algn="just">
                  <a:lnSpc>
                    <a:spcPts val="2520"/>
                  </a:lnSpc>
                  <a:buAutoNum type="arabicPeriod"/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Load Memory</a:t>
                </a:r>
              </a:p>
              <a:p>
                <a:pPr algn="just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cafe_tools:per-user history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5381720" y="78615"/>
              <a:ext cx="2763744" cy="2146957"/>
              <a:chOff x="0" y="0"/>
              <a:chExt cx="545925" cy="42409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45925" cy="424090"/>
              </a:xfrm>
              <a:custGeom>
                <a:avLst/>
                <a:gdLst/>
                <a:ahLst/>
                <a:cxnLst/>
                <a:rect l="l" t="t" r="r" b="b"/>
                <a:pathLst>
                  <a:path w="545925" h="424090">
                    <a:moveTo>
                      <a:pt x="0" y="0"/>
                    </a:moveTo>
                    <a:lnTo>
                      <a:pt x="545925" y="0"/>
                    </a:lnTo>
                    <a:lnTo>
                      <a:pt x="545925" y="424090"/>
                    </a:lnTo>
                    <a:lnTo>
                      <a:pt x="0" y="424090"/>
                    </a:lnTo>
                    <a:close/>
                  </a:path>
                </a:pathLst>
              </a:custGeom>
              <a:solidFill>
                <a:srgbClr val="EFE3FF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545925" cy="462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4.Build Content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Budget summary + city context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0146818" y="-25522"/>
              <a:ext cx="2939968" cy="2339838"/>
              <a:chOff x="0" y="-38100"/>
              <a:chExt cx="580734" cy="4621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80734" cy="424090"/>
              </a:xfrm>
              <a:custGeom>
                <a:avLst/>
                <a:gdLst/>
                <a:ahLst/>
                <a:cxnLst/>
                <a:rect l="l" t="t" r="r" b="b"/>
                <a:pathLst>
                  <a:path w="580734" h="424090">
                    <a:moveTo>
                      <a:pt x="0" y="0"/>
                    </a:moveTo>
                    <a:lnTo>
                      <a:pt x="580734" y="0"/>
                    </a:lnTo>
                    <a:lnTo>
                      <a:pt x="580734" y="424090"/>
                    </a:lnTo>
                    <a:lnTo>
                      <a:pt x="0" y="424090"/>
                    </a:lnTo>
                    <a:close/>
                  </a:path>
                </a:pathLst>
              </a:custGeom>
              <a:solidFill>
                <a:srgbClr val="FFF9F1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580734" cy="462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388620" lvl="1" indent="-194310" algn="l">
                  <a:lnSpc>
                    <a:spcPts val="2520"/>
                  </a:lnSpc>
                  <a:buAutoNum type="arabicPeriod"/>
                </a:pPr>
                <a:r>
                  <a:rPr lang="en-US" sz="1800" b="1" dirty="0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Select Speaker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 dirty="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 dirty="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anti-repeat role rotation</a:t>
                </a:r>
              </a:p>
            </p:txBody>
          </p:sp>
        </p:grpSp>
        <p:sp>
          <p:nvSpPr>
            <p:cNvPr id="24" name="AutoShape 24"/>
            <p:cNvSpPr/>
            <p:nvPr/>
          </p:nvSpPr>
          <p:spPr>
            <a:xfrm flipV="1">
              <a:off x="8185167" y="1152093"/>
              <a:ext cx="2132145" cy="9525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3221730" y="1142568"/>
              <a:ext cx="2112464" cy="1905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3316503" y="1139393"/>
              <a:ext cx="2074775" cy="2540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8135946" y="1141964"/>
              <a:ext cx="1987192" cy="19655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AutoShape 28"/>
          <p:cNvSpPr/>
          <p:nvPr/>
        </p:nvSpPr>
        <p:spPr>
          <a:xfrm flipH="1">
            <a:off x="16763999" y="5440551"/>
            <a:ext cx="0" cy="1654617"/>
          </a:xfrm>
          <a:prstGeom prst="line">
            <a:avLst/>
          </a:prstGeom>
          <a:ln w="38100" cap="flat">
            <a:solidFill>
              <a:srgbClr val="FFDBA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761369" y="7095168"/>
            <a:ext cx="16990015" cy="1728140"/>
            <a:chOff x="0" y="0"/>
            <a:chExt cx="22653354" cy="2304186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2997520" cy="2304186"/>
              <a:chOff x="0" y="0"/>
              <a:chExt cx="592103" cy="4551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2103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592103" h="455148">
                    <a:moveTo>
                      <a:pt x="0" y="0"/>
                    </a:moveTo>
                    <a:lnTo>
                      <a:pt x="592103" y="0"/>
                    </a:lnTo>
                    <a:lnTo>
                      <a:pt x="592103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FFF9F1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592103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8. Return UI Turn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frontend appends one new message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07440" y="0"/>
              <a:ext cx="2763744" cy="2304186"/>
              <a:chOff x="0" y="0"/>
              <a:chExt cx="545925" cy="45514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45925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545925" h="455148">
                    <a:moveTo>
                      <a:pt x="0" y="0"/>
                    </a:moveTo>
                    <a:lnTo>
                      <a:pt x="545925" y="0"/>
                    </a:lnTo>
                    <a:lnTo>
                      <a:pt x="545925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45925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7. Persist Turn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write history for next click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780856" y="0"/>
              <a:ext cx="3144233" cy="2304186"/>
              <a:chOff x="0" y="0"/>
              <a:chExt cx="621083" cy="45514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21083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621083" h="455148">
                    <a:moveTo>
                      <a:pt x="0" y="0"/>
                    </a:moveTo>
                    <a:lnTo>
                      <a:pt x="621083" y="0"/>
                    </a:lnTo>
                    <a:lnTo>
                      <a:pt x="621083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D9F2E8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621083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6. Generate Reply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OpenAI → Anthropic → Groq → Mock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4935753" y="0"/>
              <a:ext cx="2939968" cy="2304186"/>
              <a:chOff x="0" y="0"/>
              <a:chExt cx="580734" cy="45514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80734" cy="455148"/>
              </a:xfrm>
              <a:custGeom>
                <a:avLst/>
                <a:gdLst/>
                <a:ahLst/>
                <a:cxnLst/>
                <a:rect l="l" t="t" r="r" b="b"/>
                <a:pathLst>
                  <a:path w="580734" h="455148">
                    <a:moveTo>
                      <a:pt x="0" y="0"/>
                    </a:moveTo>
                    <a:lnTo>
                      <a:pt x="580734" y="0"/>
                    </a:lnTo>
                    <a:lnTo>
                      <a:pt x="580734" y="455148"/>
                    </a:lnTo>
                    <a:lnTo>
                      <a:pt x="0" y="455148"/>
                    </a:lnTo>
                    <a:close/>
                  </a:path>
                </a:pathLst>
              </a:custGeom>
              <a:solidFill>
                <a:srgbClr val="EFE3FF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580734" cy="493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Budget Grounding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endParaRP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Expenses + Budgets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9889610" y="78615"/>
              <a:ext cx="2763744" cy="2146957"/>
              <a:chOff x="0" y="0"/>
              <a:chExt cx="545925" cy="42409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45925" cy="424090"/>
              </a:xfrm>
              <a:custGeom>
                <a:avLst/>
                <a:gdLst/>
                <a:ahLst/>
                <a:cxnLst/>
                <a:rect l="l" t="t" r="r" b="b"/>
                <a:pathLst>
                  <a:path w="545925" h="424090">
                    <a:moveTo>
                      <a:pt x="0" y="0"/>
                    </a:moveTo>
                    <a:lnTo>
                      <a:pt x="545925" y="0"/>
                    </a:lnTo>
                    <a:lnTo>
                      <a:pt x="545925" y="424090"/>
                    </a:lnTo>
                    <a:lnTo>
                      <a:pt x="0" y="424090"/>
                    </a:lnTo>
                    <a:close/>
                  </a:path>
                </a:pathLst>
              </a:custGeom>
              <a:solidFill>
                <a:srgbClr val="FFF9F1"/>
              </a:solidFill>
              <a:ln w="38100" cap="sq">
                <a:solidFill>
                  <a:srgbClr val="FFDBA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545925" cy="462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Memory Store</a:t>
                </a: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history by sanitized user_id</a:t>
                </a:r>
              </a:p>
              <a:p>
                <a:pPr algn="ctr">
                  <a:lnSpc>
                    <a:spcPts val="2520"/>
                  </a:lnSpc>
                </a:pPr>
                <a:endParaRPr lang="en-US" sz="18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endParaRPr>
              </a:p>
            </p:txBody>
          </p:sp>
        </p:grpSp>
        <p:sp>
          <p:nvSpPr>
            <p:cNvPr id="45" name="AutoShape 45"/>
            <p:cNvSpPr/>
            <p:nvPr/>
          </p:nvSpPr>
          <p:spPr>
            <a:xfrm flipH="1" flipV="1">
              <a:off x="17875722" y="1152093"/>
              <a:ext cx="2013889" cy="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AutoShape 46"/>
            <p:cNvSpPr/>
            <p:nvPr/>
          </p:nvSpPr>
          <p:spPr>
            <a:xfrm flipH="1">
              <a:off x="12925089" y="1152093"/>
              <a:ext cx="2010664" cy="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AutoShape 47"/>
            <p:cNvSpPr/>
            <p:nvPr/>
          </p:nvSpPr>
          <p:spPr>
            <a:xfrm flipH="1">
              <a:off x="7771184" y="1152093"/>
              <a:ext cx="2009672" cy="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AutoShape 48"/>
            <p:cNvSpPr/>
            <p:nvPr/>
          </p:nvSpPr>
          <p:spPr>
            <a:xfrm flipH="1">
              <a:off x="2997520" y="1152093"/>
              <a:ext cx="2009920" cy="0"/>
            </a:xfrm>
            <a:prstGeom prst="line">
              <a:avLst/>
            </a:prstGeom>
            <a:ln w="50800" cap="flat">
              <a:solidFill>
                <a:srgbClr val="FFDBA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0292" y="9002011"/>
            <a:ext cx="1816707" cy="2359360"/>
          </a:xfrm>
          <a:custGeom>
            <a:avLst/>
            <a:gdLst/>
            <a:ahLst/>
            <a:cxnLst/>
            <a:rect l="l" t="t" r="r" b="b"/>
            <a:pathLst>
              <a:path w="1816707" h="2359360">
                <a:moveTo>
                  <a:pt x="0" y="0"/>
                </a:moveTo>
                <a:lnTo>
                  <a:pt x="1816707" y="0"/>
                </a:lnTo>
                <a:lnTo>
                  <a:pt x="1816707" y="2359360"/>
                </a:lnTo>
                <a:lnTo>
                  <a:pt x="0" y="235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5213599" y="9002011"/>
            <a:ext cx="1602431" cy="1695695"/>
          </a:xfrm>
          <a:custGeom>
            <a:avLst/>
            <a:gdLst/>
            <a:ahLst/>
            <a:cxnLst/>
            <a:rect l="l" t="t" r="r" b="b"/>
            <a:pathLst>
              <a:path w="1602431" h="1695695">
                <a:moveTo>
                  <a:pt x="0" y="0"/>
                </a:moveTo>
                <a:lnTo>
                  <a:pt x="1602431" y="0"/>
                </a:lnTo>
                <a:lnTo>
                  <a:pt x="1602431" y="1695695"/>
                </a:lnTo>
                <a:lnTo>
                  <a:pt x="0" y="1695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0092576" y="9002011"/>
            <a:ext cx="2062605" cy="2311042"/>
          </a:xfrm>
          <a:custGeom>
            <a:avLst/>
            <a:gdLst/>
            <a:ahLst/>
            <a:cxnLst/>
            <a:rect l="l" t="t" r="r" b="b"/>
            <a:pathLst>
              <a:path w="2062605" h="2311042">
                <a:moveTo>
                  <a:pt x="0" y="0"/>
                </a:moveTo>
                <a:lnTo>
                  <a:pt x="2062605" y="0"/>
                </a:lnTo>
                <a:lnTo>
                  <a:pt x="2062605" y="2311042"/>
                </a:lnTo>
                <a:lnTo>
                  <a:pt x="0" y="23110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2300">
            <a:off x="16143454" y="8401145"/>
            <a:ext cx="2231692" cy="2374141"/>
          </a:xfrm>
          <a:custGeom>
            <a:avLst/>
            <a:gdLst/>
            <a:ahLst/>
            <a:cxnLst/>
            <a:rect l="l" t="t" r="r" b="b"/>
            <a:pathLst>
              <a:path w="2231692" h="2374141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878427" y="308393"/>
            <a:ext cx="8174590" cy="1234657"/>
            <a:chOff x="0" y="0"/>
            <a:chExt cx="2152978" cy="3251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978" cy="325177"/>
            </a:xfrm>
            <a:custGeom>
              <a:avLst/>
              <a:gdLst/>
              <a:ahLst/>
              <a:cxnLst/>
              <a:rect l="l" t="t" r="r" b="b"/>
              <a:pathLst>
                <a:path w="2152978" h="325177">
                  <a:moveTo>
                    <a:pt x="2152978" y="0"/>
                  </a:moveTo>
                  <a:lnTo>
                    <a:pt x="0" y="0"/>
                  </a:lnTo>
                  <a:lnTo>
                    <a:pt x="101600" y="162589"/>
                  </a:lnTo>
                  <a:lnTo>
                    <a:pt x="0" y="325177"/>
                  </a:lnTo>
                  <a:lnTo>
                    <a:pt x="2152978" y="325177"/>
                  </a:lnTo>
                  <a:lnTo>
                    <a:pt x="2051378" y="162589"/>
                  </a:lnTo>
                  <a:lnTo>
                    <a:pt x="2152978" y="0"/>
                  </a:ln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900" y="-66675"/>
              <a:ext cx="1975178" cy="391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593232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Experiments, APIs / Models Tested &amp; Results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325503"/>
            <a:ext cx="5422483" cy="710922"/>
            <a:chOff x="0" y="0"/>
            <a:chExt cx="3421913" cy="448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21913" cy="448634"/>
            </a:xfrm>
            <a:custGeom>
              <a:avLst/>
              <a:gdLst/>
              <a:ahLst/>
              <a:cxnLst/>
              <a:rect l="l" t="t" r="r" b="b"/>
              <a:pathLst>
                <a:path w="3421913" h="448634">
                  <a:moveTo>
                    <a:pt x="81381" y="0"/>
                  </a:moveTo>
                  <a:lnTo>
                    <a:pt x="3340532" y="0"/>
                  </a:lnTo>
                  <a:cubicBezTo>
                    <a:pt x="3385477" y="0"/>
                    <a:pt x="3421913" y="36436"/>
                    <a:pt x="3421913" y="81381"/>
                  </a:cubicBezTo>
                  <a:lnTo>
                    <a:pt x="3421913" y="367253"/>
                  </a:lnTo>
                  <a:cubicBezTo>
                    <a:pt x="3421913" y="412199"/>
                    <a:pt x="3385477" y="448634"/>
                    <a:pt x="3340532" y="448634"/>
                  </a:cubicBezTo>
                  <a:lnTo>
                    <a:pt x="81381" y="448634"/>
                  </a:lnTo>
                  <a:cubicBezTo>
                    <a:pt x="36436" y="448634"/>
                    <a:pt x="0" y="412199"/>
                    <a:pt x="0" y="367253"/>
                  </a:cubicBezTo>
                  <a:lnTo>
                    <a:pt x="0" y="81381"/>
                  </a:lnTo>
                  <a:cubicBezTo>
                    <a:pt x="0" y="36436"/>
                    <a:pt x="36436" y="0"/>
                    <a:pt x="81381" y="0"/>
                  </a:cubicBez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421913" cy="5153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Quantifiable evaluation metrics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575460" y="2325503"/>
            <a:ext cx="5532623" cy="708034"/>
            <a:chOff x="0" y="0"/>
            <a:chExt cx="3491418" cy="446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91418" cy="446812"/>
            </a:xfrm>
            <a:custGeom>
              <a:avLst/>
              <a:gdLst/>
              <a:ahLst/>
              <a:cxnLst/>
              <a:rect l="l" t="t" r="r" b="b"/>
              <a:pathLst>
                <a:path w="3491418" h="446812">
                  <a:moveTo>
                    <a:pt x="79761" y="0"/>
                  </a:moveTo>
                  <a:lnTo>
                    <a:pt x="3411657" y="0"/>
                  </a:lnTo>
                  <a:cubicBezTo>
                    <a:pt x="3455708" y="0"/>
                    <a:pt x="3491418" y="35710"/>
                    <a:pt x="3491418" y="79761"/>
                  </a:cubicBezTo>
                  <a:lnTo>
                    <a:pt x="3491418" y="367050"/>
                  </a:lnTo>
                  <a:cubicBezTo>
                    <a:pt x="3491418" y="411101"/>
                    <a:pt x="3455708" y="446812"/>
                    <a:pt x="3411657" y="446812"/>
                  </a:cubicBezTo>
                  <a:lnTo>
                    <a:pt x="79761" y="446812"/>
                  </a:lnTo>
                  <a:cubicBezTo>
                    <a:pt x="35710" y="446812"/>
                    <a:pt x="0" y="411101"/>
                    <a:pt x="0" y="367050"/>
                  </a:cubicBezTo>
                  <a:lnTo>
                    <a:pt x="0" y="79761"/>
                  </a:lnTo>
                  <a:cubicBezTo>
                    <a:pt x="0" y="35710"/>
                    <a:pt x="35710" y="0"/>
                    <a:pt x="79761" y="0"/>
                  </a:cubicBez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3491418" cy="513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Average API latency by workflow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2206" y="3463712"/>
            <a:ext cx="7807813" cy="3542795"/>
          </a:xfrm>
          <a:custGeom>
            <a:avLst/>
            <a:gdLst/>
            <a:ahLst/>
            <a:cxnLst/>
            <a:rect l="l" t="t" r="r" b="b"/>
            <a:pathLst>
              <a:path w="7807813" h="3542795">
                <a:moveTo>
                  <a:pt x="0" y="0"/>
                </a:moveTo>
                <a:lnTo>
                  <a:pt x="7807813" y="0"/>
                </a:lnTo>
                <a:lnTo>
                  <a:pt x="7807813" y="3542795"/>
                </a:lnTo>
                <a:lnTo>
                  <a:pt x="0" y="354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A67062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261461" y="3463712"/>
            <a:ext cx="7808171" cy="3337993"/>
          </a:xfrm>
          <a:custGeom>
            <a:avLst/>
            <a:gdLst/>
            <a:ahLst/>
            <a:cxnLst/>
            <a:rect l="l" t="t" r="r" b="b"/>
            <a:pathLst>
              <a:path w="7808171" h="3337993">
                <a:moveTo>
                  <a:pt x="0" y="0"/>
                </a:moveTo>
                <a:lnTo>
                  <a:pt x="7808171" y="0"/>
                </a:lnTo>
                <a:lnTo>
                  <a:pt x="7808171" y="3337993"/>
                </a:lnTo>
                <a:lnTo>
                  <a:pt x="0" y="3337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A67062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833750" y="1841732"/>
            <a:ext cx="1024191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Scenario-based evaluation: functional flows, agent orchestration, and degraded-provider fallback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4863636" y="7168432"/>
          <a:ext cx="8182144" cy="2998602"/>
        </p:xfrm>
        <a:graphic>
          <a:graphicData uri="http://schemas.openxmlformats.org/drawingml/2006/table">
            <a:tbl>
              <a:tblPr/>
              <a:tblGrid>
                <a:gridCol w="294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16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Met</a:t>
                      </a: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ric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Target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Me</a:t>
                      </a: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asured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532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Parsing Accuracy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&gt;7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5%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~85–90%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2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Res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ponse Quality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&gt;3/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~4.75/5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532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System Reliability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&gt;60% uptime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infra ready for live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841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Deployment Readiness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Full deployment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Successful Deployment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2300">
            <a:off x="241596" y="8469324"/>
            <a:ext cx="2231692" cy="2374141"/>
          </a:xfrm>
          <a:custGeom>
            <a:avLst/>
            <a:gdLst/>
            <a:ahLst/>
            <a:cxnLst/>
            <a:rect l="l" t="t" r="r" b="b"/>
            <a:pathLst>
              <a:path w="2231692" h="2374141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13500" y="259328"/>
            <a:ext cx="7849378" cy="1210190"/>
            <a:chOff x="0" y="0"/>
            <a:chExt cx="2184381" cy="3367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4381" cy="336780"/>
            </a:xfrm>
            <a:custGeom>
              <a:avLst/>
              <a:gdLst/>
              <a:ahLst/>
              <a:cxnLst/>
              <a:rect l="l" t="t" r="r" b="b"/>
              <a:pathLst>
                <a:path w="2184381" h="336780">
                  <a:moveTo>
                    <a:pt x="2184381" y="0"/>
                  </a:moveTo>
                  <a:lnTo>
                    <a:pt x="0" y="0"/>
                  </a:lnTo>
                  <a:lnTo>
                    <a:pt x="101600" y="168390"/>
                  </a:lnTo>
                  <a:lnTo>
                    <a:pt x="0" y="336780"/>
                  </a:lnTo>
                  <a:lnTo>
                    <a:pt x="2184381" y="336780"/>
                  </a:lnTo>
                  <a:lnTo>
                    <a:pt x="2082781" y="168390"/>
                  </a:lnTo>
                  <a:lnTo>
                    <a:pt x="2184381" y="0"/>
                  </a:lnTo>
                  <a:close/>
                </a:path>
              </a:pathLst>
            </a:custGeom>
            <a:solidFill>
              <a:srgbClr val="DF9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900" y="-66675"/>
              <a:ext cx="2006581" cy="403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593232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APIs / Models Tested &amp; Results - contd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40663" y="2154683"/>
          <a:ext cx="12059089" cy="3695698"/>
        </p:xfrm>
        <a:graphic>
          <a:graphicData uri="http://schemas.openxmlformats.org/drawingml/2006/table">
            <a:tbl>
              <a:tblPr/>
              <a:tblGrid>
                <a:gridCol w="3551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94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API / Workflow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Model / Tool Tested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Evaluation Focus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5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/api/parse-expense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Groq LLaMA 3.1-8B + function calling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Field extraction, category normalization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5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/api/parse-receipt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Gemini 2.5 Flash Vision + Tesseract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OCR quality, review-before-save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5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/api/cafe/gossip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OpenAI → Anthropic → Groq → Mock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Persona continuity, fallback resilience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5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/api/agent/execute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Planner → Executor → Reviewer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Task completion and evidence quality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529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/api/expenses +/api/budget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Supabase PostgreSQL + Pydantic schemas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CRUD persistence and validation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93113" y="1631443"/>
            <a:ext cx="1024191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Scenario-based evaluation: functional flows, agent orchestration, and degraded-provider fallback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602861" y="5850383"/>
          <a:ext cx="7136231" cy="3877672"/>
        </p:xfrm>
        <a:graphic>
          <a:graphicData uri="http://schemas.openxmlformats.org/drawingml/2006/table">
            <a:tbl>
              <a:tblPr/>
              <a:tblGrid>
                <a:gridCol w="3136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9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66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Current Limitati</a:t>
                      </a: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ons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E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Futur</a:t>
                      </a:r>
                      <a:r>
                        <a:rPr lang="en-US" sz="30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e Work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53"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OCR limitations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Smart Alerts &amp; Calendar  Reminders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53"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External API latency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&amp; quotas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Migrate memory to durable database storage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53"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Memory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persistence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able confidence-based model routing &amp; cost optimization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53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Add fra</a:t>
                      </a:r>
                      <a:r>
                        <a:rPr lang="en-US" sz="18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ud/anomaly detection for spending</a:t>
                      </a:r>
                      <a:endParaRPr lang="en-US" sz="1100"/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Freeform 10"/>
          <p:cNvSpPr/>
          <p:nvPr/>
        </p:nvSpPr>
        <p:spPr>
          <a:xfrm>
            <a:off x="16437634" y="0"/>
            <a:ext cx="1850366" cy="2073239"/>
          </a:xfrm>
          <a:custGeom>
            <a:avLst/>
            <a:gdLst/>
            <a:ahLst/>
            <a:cxnLst/>
            <a:rect l="l" t="t" r="r" b="b"/>
            <a:pathLst>
              <a:path w="1850366" h="2073239">
                <a:moveTo>
                  <a:pt x="0" y="0"/>
                </a:moveTo>
                <a:lnTo>
                  <a:pt x="1850366" y="0"/>
                </a:lnTo>
                <a:lnTo>
                  <a:pt x="1850366" y="2073239"/>
                </a:lnTo>
                <a:lnTo>
                  <a:pt x="0" y="2073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0329" b="-10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2300">
            <a:off x="241596" y="8348597"/>
            <a:ext cx="2231692" cy="2374141"/>
          </a:xfrm>
          <a:custGeom>
            <a:avLst/>
            <a:gdLst/>
            <a:ahLst/>
            <a:cxnLst/>
            <a:rect l="l" t="t" r="r" b="b"/>
            <a:pathLst>
              <a:path w="2231692" h="2374141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583476" y="1555673"/>
            <a:ext cx="3931767" cy="1580518"/>
            <a:chOff x="0" y="0"/>
            <a:chExt cx="1944009" cy="781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4009" cy="781465"/>
            </a:xfrm>
            <a:custGeom>
              <a:avLst/>
              <a:gdLst/>
              <a:ahLst/>
              <a:cxnLst/>
              <a:rect l="l" t="t" r="r" b="b"/>
              <a:pathLst>
                <a:path w="1944009" h="781465">
                  <a:moveTo>
                    <a:pt x="157525" y="0"/>
                  </a:moveTo>
                  <a:lnTo>
                    <a:pt x="1786483" y="0"/>
                  </a:lnTo>
                  <a:cubicBezTo>
                    <a:pt x="1828261" y="0"/>
                    <a:pt x="1868329" y="16596"/>
                    <a:pt x="1897871" y="46138"/>
                  </a:cubicBezTo>
                  <a:cubicBezTo>
                    <a:pt x="1927412" y="75680"/>
                    <a:pt x="1944009" y="115747"/>
                    <a:pt x="1944009" y="157525"/>
                  </a:cubicBezTo>
                  <a:lnTo>
                    <a:pt x="1944009" y="623940"/>
                  </a:lnTo>
                  <a:cubicBezTo>
                    <a:pt x="1944009" y="665718"/>
                    <a:pt x="1927412" y="705785"/>
                    <a:pt x="1897871" y="735327"/>
                  </a:cubicBezTo>
                  <a:cubicBezTo>
                    <a:pt x="1868329" y="764869"/>
                    <a:pt x="1828261" y="781465"/>
                    <a:pt x="1786483" y="781465"/>
                  </a:cubicBezTo>
                  <a:lnTo>
                    <a:pt x="157525" y="781465"/>
                  </a:lnTo>
                  <a:cubicBezTo>
                    <a:pt x="115747" y="781465"/>
                    <a:pt x="75680" y="764869"/>
                    <a:pt x="46138" y="735327"/>
                  </a:cubicBezTo>
                  <a:cubicBezTo>
                    <a:pt x="16596" y="705785"/>
                    <a:pt x="0" y="665718"/>
                    <a:pt x="0" y="623940"/>
                  </a:cubicBezTo>
                  <a:lnTo>
                    <a:pt x="0" y="157525"/>
                  </a:lnTo>
                  <a:cubicBezTo>
                    <a:pt x="0" y="115747"/>
                    <a:pt x="16596" y="75680"/>
                    <a:pt x="46138" y="46138"/>
                  </a:cubicBezTo>
                  <a:cubicBezTo>
                    <a:pt x="75680" y="16596"/>
                    <a:pt x="115747" y="0"/>
                    <a:pt x="157525" y="0"/>
                  </a:cubicBezTo>
                  <a:close/>
                </a:path>
              </a:pathLst>
            </a:custGeom>
            <a:solidFill>
              <a:srgbClr val="DF926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1944009" cy="857665"/>
            </a:xfrm>
            <a:prstGeom prst="rect">
              <a:avLst/>
            </a:prstGeom>
          </p:spPr>
          <p:txBody>
            <a:bodyPr lIns="37262" tIns="37262" rIns="37262" bIns="37262" rtlCol="0" anchor="ctr"/>
            <a:lstStyle/>
            <a:p>
              <a:pPr marL="0" lvl="0" indent="0"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F2325"/>
                  </a:solidFill>
                  <a:latin typeface="Alata"/>
                  <a:ea typeface="Alata"/>
                  <a:cs typeface="Alata"/>
                  <a:sym typeface="Alata"/>
                </a:rPr>
                <a:t>Demo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899456" y="3806790"/>
          <a:ext cx="10489088" cy="3107020"/>
        </p:xfrm>
        <a:graphic>
          <a:graphicData uri="http://schemas.openxmlformats.org/drawingml/2006/table">
            <a:tbl>
              <a:tblPr/>
              <a:tblGrid>
                <a:gridCol w="356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0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96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7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Se</a:t>
                      </a:r>
                      <a:r>
                        <a:rPr lang="en-US" sz="3399" u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rvice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7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URL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685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🌐</a:t>
                      </a:r>
                      <a:r>
                        <a:rPr lang="en-US" sz="24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Frontend (Vercel)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4" tooltip="https://budget-buddy-llm-app.vercel.app"/>
                        </a:rPr>
                        <a:t>https://budget-buddy-llm-app.vercel.app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685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⚙️</a:t>
                      </a:r>
                      <a:r>
                        <a:rPr lang="en-US" sz="2499" u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Backend (Railway)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5" tooltip="https://budgetbuddy-group3.up.railway.app"/>
                        </a:rPr>
                        <a:t>https://budgetbuddy-group3.up.railway.app</a:t>
                      </a:r>
                      <a:endParaRPr lang="en-US" sz="1100"/>
                    </a:p>
                  </a:txBody>
                  <a:tcPr marL="47625" marR="47625" marT="47625" marB="47625" anchor="ctr">
                    <a:lnL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F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10665568" y="8322226"/>
            <a:ext cx="1816707" cy="2359360"/>
          </a:xfrm>
          <a:custGeom>
            <a:avLst/>
            <a:gdLst/>
            <a:ahLst/>
            <a:cxnLst/>
            <a:rect l="l" t="t" r="r" b="b"/>
            <a:pathLst>
              <a:path w="1816707" h="2359360">
                <a:moveTo>
                  <a:pt x="0" y="0"/>
                </a:moveTo>
                <a:lnTo>
                  <a:pt x="1816707" y="0"/>
                </a:lnTo>
                <a:lnTo>
                  <a:pt x="1816707" y="2359360"/>
                </a:lnTo>
                <a:lnTo>
                  <a:pt x="0" y="235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500996" y="8322226"/>
            <a:ext cx="2381490" cy="2668336"/>
          </a:xfrm>
          <a:custGeom>
            <a:avLst/>
            <a:gdLst/>
            <a:ahLst/>
            <a:cxnLst/>
            <a:rect l="l" t="t" r="r" b="b"/>
            <a:pathLst>
              <a:path w="2381490" h="2668336">
                <a:moveTo>
                  <a:pt x="0" y="0"/>
                </a:moveTo>
                <a:lnTo>
                  <a:pt x="2381489" y="0"/>
                </a:lnTo>
                <a:lnTo>
                  <a:pt x="2381489" y="2668336"/>
                </a:lnTo>
                <a:lnTo>
                  <a:pt x="0" y="26683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520105" y="8322226"/>
            <a:ext cx="2126742" cy="2250521"/>
          </a:xfrm>
          <a:custGeom>
            <a:avLst/>
            <a:gdLst/>
            <a:ahLst/>
            <a:cxnLst/>
            <a:rect l="l" t="t" r="r" b="b"/>
            <a:pathLst>
              <a:path w="2126742" h="2250521">
                <a:moveTo>
                  <a:pt x="0" y="0"/>
                </a:moveTo>
                <a:lnTo>
                  <a:pt x="2126742" y="0"/>
                </a:lnTo>
                <a:lnTo>
                  <a:pt x="2126742" y="2250521"/>
                </a:lnTo>
                <a:lnTo>
                  <a:pt x="0" y="225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594</Words>
  <Application>Microsoft Office PowerPoint</Application>
  <PresentationFormat>Custom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Mango AC</vt:lpstr>
      <vt:lpstr>Proxima Nova</vt:lpstr>
      <vt:lpstr>Gochi Hand</vt:lpstr>
      <vt:lpstr>Calibri</vt:lpstr>
      <vt:lpstr>Alata</vt:lpstr>
      <vt:lpstr>Glacial Indifference Bold</vt:lpstr>
      <vt:lpstr>Lilita One</vt:lpstr>
      <vt:lpstr>Glacial Indifference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BB-Group3</dc:title>
  <cp:lastModifiedBy>Leela Josna Kona</cp:lastModifiedBy>
  <cp:revision>2</cp:revision>
  <dcterms:created xsi:type="dcterms:W3CDTF">2006-08-16T00:00:00Z</dcterms:created>
  <dcterms:modified xsi:type="dcterms:W3CDTF">2026-04-28T20:09:11Z</dcterms:modified>
  <dc:identifier>DAG_jmpI1DA</dc:identifier>
</cp:coreProperties>
</file>